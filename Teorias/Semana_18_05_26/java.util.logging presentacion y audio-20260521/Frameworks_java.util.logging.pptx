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299071f8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299071f8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299071f8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299071f8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299071f8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299071f8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299071f8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299071f8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299071f8b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299071f8b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299071f8b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299071f8b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299071f8b_0_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299071f8b_0_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299071f8b_0_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g3e299071f8b_0_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299071f8b_0_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299071f8b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e299071f8b_0_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e299071f8b_0_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299071f8b_0_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e299071f8b_0_9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e299071f8b_0_1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e299071f8b_0_1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299071f8b_0_1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299071f8b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e299071f8b_0_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e299071f8b_0_1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299071f8b_0_1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e299071f8b_0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299071f8b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299071f8b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e299071f8b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e299071f8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299071f8b_0_1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e299071f8b_0_19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299071f8b_0_2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e299071f8b_0_2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299071f8b_0_2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e299071f8b_0_2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ocs.oracle.com/en/java/javase/11/core/java-logging-overview.html" TargetMode="External"/><Relationship Id="rId4" Type="http://schemas.openxmlformats.org/officeDocument/2006/relationships/hyperlink" Target="https://docs.oracle.com/en/java/javase/11/docs/api/java.logging/java/util/logging/package-summary.html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java.util.logging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363" y="928025"/>
            <a:ext cx="7627276" cy="29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Overview: java.util.logging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Agregamos código de loggin a nuestra aplicación para entender lo que pasa con ella, por ejemplo: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Reportes de eventos importantes, errores y excepciones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Pasos críticos en la ejecución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Inicio y fin de operaciones complejas o largas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Los logs son útiles para desarrolladores, administradores y usuarios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Comentario al margen: ¡Los logs no reemplazan al testing!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Mucho mejor que System.out.println, que es “rapido&amp;sucio”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Define jerarquía de “labels”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Activar/Desactivar logs (sin tocar código)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Generar reportes en varios formatos (txt, json,xml) y destinos (file, screen, socket)</a:t>
            </a:r>
            <a:endParaRPr/>
          </a:p>
        </p:txBody>
      </p:sp>
      <p:sp>
        <p:nvSpPr>
          <p:cNvPr id="69" name="Google Shape;6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140225"/>
            <a:ext cx="450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Overview: java.util.logging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5416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 aplicación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Configura al framework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Manda mensajes a objetos Logger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 Framework se encarga de: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Como se crean, organizan y recuperan esos objetos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Como se configuran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Como se activan y desactivan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que prestan atención y a que no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Cómo se formatean los logs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donde se envían los logs</a:t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4977750" y="1360875"/>
            <a:ext cx="1144500" cy="297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(root)</a:t>
            </a:r>
            <a:endParaRPr sz="1000"/>
          </a:p>
        </p:txBody>
      </p:sp>
      <p:sp>
        <p:nvSpPr>
          <p:cNvPr id="77" name="Google Shape;77;p16"/>
          <p:cNvSpPr/>
          <p:nvPr/>
        </p:nvSpPr>
        <p:spPr>
          <a:xfrm>
            <a:off x="5766235" y="2407275"/>
            <a:ext cx="1144500" cy="19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ecommerce</a:t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6434610" y="3207375"/>
            <a:ext cx="1144500" cy="19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customers</a:t>
            </a:r>
            <a:endParaRPr/>
          </a:p>
        </p:txBody>
      </p:sp>
      <p:cxnSp>
        <p:nvCxnSpPr>
          <p:cNvPr id="79" name="Google Shape;79;p16"/>
          <p:cNvCxnSpPr>
            <a:stCxn id="77" idx="2"/>
            <a:endCxn id="78" idx="1"/>
          </p:cNvCxnSpPr>
          <p:nvPr/>
        </p:nvCxnSpPr>
        <p:spPr>
          <a:xfrm flipH="1" rot="-5400000">
            <a:off x="6034285" y="2903175"/>
            <a:ext cx="704400" cy="96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" name="Google Shape;80;p16"/>
          <p:cNvCxnSpPr>
            <a:stCxn id="76" idx="2"/>
            <a:endCxn id="77" idx="1"/>
          </p:cNvCxnSpPr>
          <p:nvPr/>
        </p:nvCxnSpPr>
        <p:spPr>
          <a:xfrm flipH="1" rot="-5400000">
            <a:off x="5235600" y="1972575"/>
            <a:ext cx="845100" cy="2163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1" name="Google Shape;81;p16"/>
          <p:cNvGrpSpPr/>
          <p:nvPr/>
        </p:nvGrpSpPr>
        <p:grpSpPr>
          <a:xfrm>
            <a:off x="6608925" y="1074100"/>
            <a:ext cx="1866367" cy="636300"/>
            <a:chOff x="6608925" y="1074100"/>
            <a:chExt cx="1866367" cy="636300"/>
          </a:xfrm>
        </p:grpSpPr>
        <p:grpSp>
          <p:nvGrpSpPr>
            <p:cNvPr id="82" name="Google Shape;82;p16"/>
            <p:cNvGrpSpPr/>
            <p:nvPr/>
          </p:nvGrpSpPr>
          <p:grpSpPr>
            <a:xfrm>
              <a:off x="6653175" y="1167400"/>
              <a:ext cx="1822116" cy="496500"/>
              <a:chOff x="6653175" y="1167400"/>
              <a:chExt cx="1822116" cy="496500"/>
            </a:xfrm>
          </p:grpSpPr>
          <p:sp>
            <p:nvSpPr>
              <p:cNvPr id="83" name="Google Shape;83;p16"/>
              <p:cNvSpPr/>
              <p:nvPr/>
            </p:nvSpPr>
            <p:spPr>
              <a:xfrm>
                <a:off x="6653175" y="1167400"/>
                <a:ext cx="852900" cy="1917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/>
                  <a:t>level</a:t>
                </a:r>
                <a:endParaRPr sz="800"/>
              </a:p>
            </p:txBody>
          </p:sp>
          <p:sp>
            <p:nvSpPr>
              <p:cNvPr id="84" name="Google Shape;84;p16"/>
              <p:cNvSpPr/>
              <p:nvPr/>
            </p:nvSpPr>
            <p:spPr>
              <a:xfrm>
                <a:off x="6653175" y="1472200"/>
                <a:ext cx="852900" cy="1917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/>
                  <a:t>output</a:t>
                </a:r>
                <a:endParaRPr sz="800"/>
              </a:p>
            </p:txBody>
          </p:sp>
          <p:sp>
            <p:nvSpPr>
              <p:cNvPr id="85" name="Google Shape;85;p16"/>
              <p:cNvSpPr/>
              <p:nvPr/>
            </p:nvSpPr>
            <p:spPr>
              <a:xfrm>
                <a:off x="7622392" y="1472200"/>
                <a:ext cx="852900" cy="1917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/>
                  <a:t>formatter</a:t>
                </a:r>
                <a:endParaRPr sz="800"/>
              </a:p>
            </p:txBody>
          </p:sp>
        </p:grpSp>
        <p:sp>
          <p:nvSpPr>
            <p:cNvPr id="86" name="Google Shape;86;p16"/>
            <p:cNvSpPr/>
            <p:nvPr/>
          </p:nvSpPr>
          <p:spPr>
            <a:xfrm>
              <a:off x="6608925" y="1074100"/>
              <a:ext cx="1866300" cy="636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16"/>
          <p:cNvGrpSpPr/>
          <p:nvPr/>
        </p:nvGrpSpPr>
        <p:grpSpPr>
          <a:xfrm>
            <a:off x="7142325" y="3741100"/>
            <a:ext cx="1866367" cy="636300"/>
            <a:chOff x="6608925" y="1074100"/>
            <a:chExt cx="1866367" cy="636300"/>
          </a:xfrm>
        </p:grpSpPr>
        <p:grpSp>
          <p:nvGrpSpPr>
            <p:cNvPr id="88" name="Google Shape;88;p16"/>
            <p:cNvGrpSpPr/>
            <p:nvPr/>
          </p:nvGrpSpPr>
          <p:grpSpPr>
            <a:xfrm>
              <a:off x="6653175" y="1167400"/>
              <a:ext cx="1822116" cy="496500"/>
              <a:chOff x="6653175" y="1167400"/>
              <a:chExt cx="1822116" cy="496500"/>
            </a:xfrm>
          </p:grpSpPr>
          <p:sp>
            <p:nvSpPr>
              <p:cNvPr id="89" name="Google Shape;89;p16"/>
              <p:cNvSpPr/>
              <p:nvPr/>
            </p:nvSpPr>
            <p:spPr>
              <a:xfrm>
                <a:off x="6653175" y="1167400"/>
                <a:ext cx="852900" cy="1917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/>
                  <a:t>level</a:t>
                </a:r>
                <a:endParaRPr sz="800"/>
              </a:p>
            </p:txBody>
          </p:sp>
          <p:sp>
            <p:nvSpPr>
              <p:cNvPr id="90" name="Google Shape;90;p16"/>
              <p:cNvSpPr/>
              <p:nvPr/>
            </p:nvSpPr>
            <p:spPr>
              <a:xfrm>
                <a:off x="6653175" y="1472200"/>
                <a:ext cx="852900" cy="1917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/>
                  <a:t>output</a:t>
                </a:r>
                <a:endParaRPr sz="800"/>
              </a:p>
            </p:txBody>
          </p:sp>
          <p:sp>
            <p:nvSpPr>
              <p:cNvPr id="91" name="Google Shape;91;p16"/>
              <p:cNvSpPr/>
              <p:nvPr/>
            </p:nvSpPr>
            <p:spPr>
              <a:xfrm>
                <a:off x="7622392" y="1472200"/>
                <a:ext cx="852900" cy="191700"/>
              </a:xfrm>
              <a:prstGeom prst="ellipse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/>
                  <a:t>formatter</a:t>
                </a:r>
                <a:endParaRPr sz="800"/>
              </a:p>
            </p:txBody>
          </p:sp>
        </p:grpSp>
        <p:sp>
          <p:nvSpPr>
            <p:cNvPr id="92" name="Google Shape;92;p16"/>
            <p:cNvSpPr/>
            <p:nvPr/>
          </p:nvSpPr>
          <p:spPr>
            <a:xfrm>
              <a:off x="6608925" y="1074100"/>
              <a:ext cx="1866300" cy="636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3" name="Google Shape;93;p16"/>
          <p:cNvCxnSpPr>
            <a:stCxn id="76" idx="3"/>
            <a:endCxn id="86" idx="1"/>
          </p:cNvCxnSpPr>
          <p:nvPr/>
        </p:nvCxnSpPr>
        <p:spPr>
          <a:xfrm flipH="1" rot="10800000">
            <a:off x="6122250" y="1392225"/>
            <a:ext cx="486600" cy="1173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6"/>
          <p:cNvCxnSpPr>
            <a:stCxn id="78" idx="3"/>
            <a:endCxn id="92" idx="0"/>
          </p:cNvCxnSpPr>
          <p:nvPr/>
        </p:nvCxnSpPr>
        <p:spPr>
          <a:xfrm>
            <a:off x="7579110" y="3303225"/>
            <a:ext cx="496500" cy="438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6"/>
          <p:cNvSpPr txBox="1"/>
          <p:nvPr/>
        </p:nvSpPr>
        <p:spPr>
          <a:xfrm>
            <a:off x="5183725" y="4097550"/>
            <a:ext cx="38262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Loggers: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&gt;</a:t>
            </a:r>
            <a:r>
              <a:rPr i="1" lang="en" sz="1300">
                <a:solidFill>
                  <a:schemeClr val="dk2"/>
                </a:solidFill>
              </a:rPr>
              <a:t>ecommers</a:t>
            </a:r>
            <a:endParaRPr i="1"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</a:rPr>
              <a:t>&gt;</a:t>
            </a:r>
            <a:r>
              <a:rPr i="1" lang="en" sz="1300">
                <a:solidFill>
                  <a:schemeClr val="dk2"/>
                </a:solidFill>
              </a:rPr>
              <a:t>ecommers.customers</a:t>
            </a:r>
            <a:endParaRPr i="1" sz="1300">
              <a:solidFill>
                <a:schemeClr val="dk2"/>
              </a:solidFill>
            </a:endParaRPr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25" y="165625"/>
            <a:ext cx="8080826" cy="358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 rotWithShape="1">
          <a:blip r:embed="rId4">
            <a:alphaModFix/>
          </a:blip>
          <a:srcRect b="42409" l="0" r="0" t="6966"/>
          <a:stretch/>
        </p:blipFill>
        <p:spPr>
          <a:xfrm>
            <a:off x="1365926" y="3754975"/>
            <a:ext cx="5758411" cy="112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5223850" y="108650"/>
            <a:ext cx="3729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Overview: Aplicación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Variante de uso de Loggers</a:t>
            </a:r>
            <a:endParaRPr/>
          </a:p>
        </p:txBody>
      </p:sp>
      <p:pic>
        <p:nvPicPr>
          <p:cNvPr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800" y="636725"/>
            <a:ext cx="7294099" cy="380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1407450" y="4112050"/>
            <a:ext cx="7032300" cy="877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</a:rPr>
              <a:t>Logger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mantiene un “registry” de sus instancias. </a:t>
            </a:r>
            <a:endParaRPr sz="1500">
              <a:solidFill>
                <a:schemeClr val="dk2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getLogger() es un lazy-initializer</a:t>
            </a:r>
            <a:endParaRPr sz="1500">
              <a:solidFill>
                <a:schemeClr val="dk2"/>
              </a:solidFill>
            </a:endParaRPr>
          </a:p>
        </p:txBody>
      </p:sp>
      <p:sp>
        <p:nvSpPr>
          <p:cNvPr id="112" name="Google Shape;11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Diseño  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Logger: objeto al que le </a:t>
            </a:r>
            <a:r>
              <a:rPr lang="en"/>
              <a:t>pedimos</a:t>
            </a:r>
            <a:r>
              <a:rPr lang="en"/>
              <a:t> que emita un mensaje de log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Handler: encargado de enviar el mensaje a donde corresponda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Level: indica la importancia de un mensaje y es lo que mira un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Logger y un Handler para ver si le interesa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Formater: determina cómo se ”presentará” el mensaje</a:t>
            </a:r>
            <a:endParaRPr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750" y="2914224"/>
            <a:ext cx="8012499" cy="181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7857"/>
              <a:buFont typeface="Calibri"/>
              <a:buNone/>
            </a:pPr>
            <a:r>
              <a:rPr lang="en"/>
              <a:t>Logger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86175" y="1321549"/>
            <a:ext cx="6861900" cy="30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 lnSpcReduction="20000"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Podemos definir tantos como necesitemos</a:t>
            </a:r>
            <a:endParaRPr/>
          </a:p>
          <a:p>
            <a:pPr indent="-241300" lvl="1" marL="584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/>
              <a:t>Instancias de la clase Logger</a:t>
            </a:r>
            <a:endParaRPr/>
          </a:p>
          <a:p>
            <a:pPr indent="-241300" lvl="1" marL="584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/>
              <a:t>Las obtengo con Logger.getLogger(String nombre)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Cada uno con su filtro y handler/s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Se organizan en un árbol (en base a sus nombres)</a:t>
            </a:r>
            <a:endParaRPr/>
          </a:p>
          <a:p>
            <a:pPr indent="-241300" lvl="1" marL="584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/>
              <a:t>Heredan configuración de su padre (handlers y filters)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log(Level, String) agrega un mensaje al log</a:t>
            </a:r>
            <a:endParaRPr/>
          </a:p>
          <a:p>
            <a:pPr indent="-241300" lvl="1" marL="584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/>
              <a:t>Alternativamente uso warn(), info(), severe() …</a:t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6903" y="225083"/>
            <a:ext cx="2513729" cy="185284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205" y="1029101"/>
            <a:ext cx="7538292" cy="390579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7857"/>
              <a:buFont typeface="Calibri"/>
              <a:buNone/>
            </a:pPr>
            <a:r>
              <a:rPr lang="en"/>
              <a:t>Ejemplo avanzado</a:t>
            </a:r>
            <a:endParaRPr/>
          </a:p>
        </p:txBody>
      </p:sp>
      <p:sp>
        <p:nvSpPr>
          <p:cNvPr id="135" name="Google Shape;135;p21"/>
          <p:cNvSpPr/>
          <p:nvPr/>
        </p:nvSpPr>
        <p:spPr>
          <a:xfrm>
            <a:off x="6955086" y="1121879"/>
            <a:ext cx="553500" cy="389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1"/>
          <p:cNvSpPr/>
          <p:nvPr/>
        </p:nvSpPr>
        <p:spPr>
          <a:xfrm>
            <a:off x="6422151" y="1745900"/>
            <a:ext cx="1463400" cy="3894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ecommerce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" name="Google Shape;137;p21"/>
          <p:cNvCxnSpPr>
            <a:endCxn id="135" idx="4"/>
          </p:cNvCxnSpPr>
          <p:nvPr/>
        </p:nvCxnSpPr>
        <p:spPr>
          <a:xfrm flipH="1" rot="10800000">
            <a:off x="7199736" y="1511279"/>
            <a:ext cx="32100" cy="234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med" w="med" type="triangle"/>
          </a:ln>
          <a:effectLst>
            <a:outerShdw blurRad="28575" rotWithShape="0" dir="5400000" dist="15000">
              <a:srgbClr val="000000">
                <a:alpha val="37650"/>
              </a:srgbClr>
            </a:outerShdw>
          </a:effectLst>
        </p:spPr>
      </p:cxnSp>
      <p:cxnSp>
        <p:nvCxnSpPr>
          <p:cNvPr id="138" name="Google Shape;138;p21"/>
          <p:cNvCxnSpPr/>
          <p:nvPr/>
        </p:nvCxnSpPr>
        <p:spPr>
          <a:xfrm rot="10800000">
            <a:off x="1826867" y="4513172"/>
            <a:ext cx="1410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med" w="med" type="triangle"/>
          </a:ln>
          <a:effectLst>
            <a:outerShdw blurRad="28575" rotWithShape="0" dir="5400000" dist="15000">
              <a:srgbClr val="000000">
                <a:alpha val="37650"/>
              </a:srgbClr>
            </a:outerShdw>
          </a:effectLst>
        </p:spPr>
      </p:cxnSp>
      <p:sp>
        <p:nvSpPr>
          <p:cNvPr id="139" name="Google Shape;139;p21"/>
          <p:cNvSpPr txBox="1"/>
          <p:nvPr/>
        </p:nvSpPr>
        <p:spPr>
          <a:xfrm>
            <a:off x="1019581" y="2303706"/>
            <a:ext cx="948300" cy="2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ecommerce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340927" y="2546598"/>
            <a:ext cx="948300" cy="28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ecommerce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274525" y="3055750"/>
            <a:ext cx="7816500" cy="1770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" name="Google Shape;143;p21"/>
          <p:cNvGrpSpPr/>
          <p:nvPr/>
        </p:nvGrpSpPr>
        <p:grpSpPr>
          <a:xfrm>
            <a:off x="1554138" y="2912975"/>
            <a:ext cx="5084726" cy="1595025"/>
            <a:chOff x="1554138" y="2912975"/>
            <a:chExt cx="5084726" cy="1595025"/>
          </a:xfrm>
        </p:grpSpPr>
        <p:grpSp>
          <p:nvGrpSpPr>
            <p:cNvPr id="144" name="Google Shape;144;p21"/>
            <p:cNvGrpSpPr/>
            <p:nvPr/>
          </p:nvGrpSpPr>
          <p:grpSpPr>
            <a:xfrm>
              <a:off x="1554138" y="2912975"/>
              <a:ext cx="5084726" cy="1595025"/>
              <a:chOff x="1554138" y="2912975"/>
              <a:chExt cx="5084726" cy="1595025"/>
            </a:xfrm>
          </p:grpSpPr>
          <p:pic>
            <p:nvPicPr>
              <p:cNvPr id="145" name="Google Shape;145;p2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43937" t="0"/>
              <a:stretch/>
            </p:blipFill>
            <p:spPr>
              <a:xfrm>
                <a:off x="1554138" y="2912975"/>
                <a:ext cx="5084726" cy="159502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6" name="Google Shape;146;p21"/>
              <p:cNvSpPr/>
              <p:nvPr/>
            </p:nvSpPr>
            <p:spPr>
              <a:xfrm>
                <a:off x="1649344" y="3005098"/>
                <a:ext cx="1195500" cy="406200"/>
              </a:xfrm>
              <a:prstGeom prst="ellipse">
                <a:avLst/>
              </a:prstGeom>
              <a:noFill/>
              <a:ln cap="flat" cmpd="sng" w="192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600" lIns="34600" spcFirstLastPara="1" rIns="34600" wrap="square" tIns="34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13"/>
                  <a:buFont typeface="Calibri"/>
                  <a:buNone/>
                </a:pPr>
                <a:r>
                  <a:t/>
                </a:r>
                <a:endParaRPr b="0" i="0" sz="141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21"/>
              <p:cNvSpPr/>
              <p:nvPr/>
            </p:nvSpPr>
            <p:spPr>
              <a:xfrm>
                <a:off x="5141488" y="2984272"/>
                <a:ext cx="1195500" cy="406200"/>
              </a:xfrm>
              <a:prstGeom prst="ellipse">
                <a:avLst/>
              </a:prstGeom>
              <a:noFill/>
              <a:ln cap="flat" cmpd="sng" w="19225">
                <a:solidFill>
                  <a:schemeClr val="accen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34600" lIns="34600" spcFirstLastPara="1" rIns="34600" wrap="square" tIns="346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13"/>
                  <a:buFont typeface="Calibri"/>
                  <a:buNone/>
                </a:pPr>
                <a:r>
                  <a:t/>
                </a:r>
                <a:endParaRPr b="0" i="0" sz="1413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48" name="Google Shape;148;p21"/>
            <p:cNvCxnSpPr/>
            <p:nvPr/>
          </p:nvCxnSpPr>
          <p:spPr>
            <a:xfrm rot="10800000">
              <a:off x="3477333" y="4278457"/>
              <a:ext cx="1410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dash"/>
              <a:round/>
              <a:headEnd len="sm" w="sm" type="none"/>
              <a:tailEnd len="med" w="med" type="triangle"/>
            </a:ln>
            <a:effectLst>
              <a:outerShdw blurRad="28575" rotWithShape="0" dir="5400000" dist="15000">
                <a:srgbClr val="000000">
                  <a:alpha val="37650"/>
                </a:srgbClr>
              </a:outerShdw>
            </a:effectLst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205" y="1029101"/>
            <a:ext cx="7538292" cy="3905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32" y="1371608"/>
            <a:ext cx="8983579" cy="157985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7857"/>
              <a:buFont typeface="Calibri"/>
              <a:buNone/>
            </a:pPr>
            <a:r>
              <a:rPr lang="en"/>
              <a:t>Ejemplo avanzado: configuraci</a:t>
            </a:r>
            <a:r>
              <a:rPr lang="en"/>
              <a:t>ón</a:t>
            </a:r>
            <a:r>
              <a:rPr lang="en"/>
              <a:t> </a:t>
            </a:r>
            <a:endParaRPr/>
          </a:p>
        </p:txBody>
      </p:sp>
      <p:sp>
        <p:nvSpPr>
          <p:cNvPr id="156" name="Google Shape;156;p22"/>
          <p:cNvSpPr/>
          <p:nvPr/>
        </p:nvSpPr>
        <p:spPr>
          <a:xfrm>
            <a:off x="7620470" y="1466982"/>
            <a:ext cx="1184100" cy="4023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7" name="Google Shape;157;p22"/>
          <p:cNvCxnSpPr/>
          <p:nvPr/>
        </p:nvCxnSpPr>
        <p:spPr>
          <a:xfrm rot="10800000">
            <a:off x="1898583" y="2703607"/>
            <a:ext cx="14109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med" w="med" type="triangle"/>
          </a:ln>
          <a:effectLst>
            <a:outerShdw blurRad="28575" rotWithShape="0" dir="5400000" dist="15000">
              <a:srgbClr val="000000">
                <a:alpha val="37650"/>
              </a:srgbClr>
            </a:outerShdw>
          </a:effectLst>
        </p:spPr>
      </p:cxnSp>
      <p:sp>
        <p:nvSpPr>
          <p:cNvPr id="158" name="Google Shape;158;p22"/>
          <p:cNvSpPr/>
          <p:nvPr/>
        </p:nvSpPr>
        <p:spPr>
          <a:xfrm>
            <a:off x="5677503" y="1408244"/>
            <a:ext cx="1184100" cy="4023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22"/>
          <p:cNvCxnSpPr/>
          <p:nvPr/>
        </p:nvCxnSpPr>
        <p:spPr>
          <a:xfrm flipH="1">
            <a:off x="5050229" y="2653052"/>
            <a:ext cx="1050600" cy="507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med" w="med" type="triangle"/>
          </a:ln>
          <a:effectLst>
            <a:outerShdw blurRad="28575" rotWithShape="0" dir="5400000" dist="15000">
              <a:srgbClr val="000000">
                <a:alpha val="37650"/>
              </a:srgbClr>
            </a:outerShdw>
          </a:effectLst>
        </p:spPr>
      </p:cxnSp>
      <p:sp>
        <p:nvSpPr>
          <p:cNvPr id="160" name="Google Shape;160;p22"/>
          <p:cNvSpPr txBox="1"/>
          <p:nvPr/>
        </p:nvSpPr>
        <p:spPr>
          <a:xfrm>
            <a:off x="6132978" y="2485724"/>
            <a:ext cx="2278800" cy="28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customersLogger: Logger</a:t>
            </a:r>
            <a:endParaRPr b="0" i="0" sz="140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7857"/>
              <a:buFont typeface="Calibri"/>
              <a:buNone/>
            </a:pPr>
            <a:r>
              <a:rPr lang="en"/>
              <a:t>Ejemplo avanzado: uso </a:t>
            </a:r>
            <a:endParaRPr/>
          </a:p>
        </p:txBody>
      </p:sp>
      <p:pic>
        <p:nvPicPr>
          <p:cNvPr id="167" name="Google Shape;16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822400"/>
            <a:ext cx="8177335" cy="219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7262" y="1009090"/>
            <a:ext cx="6977119" cy="16702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3"/>
          <p:cNvCxnSpPr/>
          <p:nvPr/>
        </p:nvCxnSpPr>
        <p:spPr>
          <a:xfrm rot="10800000">
            <a:off x="3985326" y="2207481"/>
            <a:ext cx="0" cy="100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med" w="med" type="triangle"/>
          </a:ln>
          <a:effectLst>
            <a:outerShdw blurRad="28575" rotWithShape="0" dir="5400000" dist="15000">
              <a:srgbClr val="000000">
                <a:alpha val="37650"/>
              </a:srgbClr>
            </a:outerShdw>
          </a:effectLst>
        </p:spPr>
      </p:cxnSp>
      <p:cxnSp>
        <p:nvCxnSpPr>
          <p:cNvPr id="170" name="Google Shape;170;p23"/>
          <p:cNvCxnSpPr/>
          <p:nvPr/>
        </p:nvCxnSpPr>
        <p:spPr>
          <a:xfrm rot="10800000">
            <a:off x="4631411" y="2035939"/>
            <a:ext cx="841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med" w="med" type="triangle"/>
          </a:ln>
          <a:effectLst>
            <a:outerShdw blurRad="28575" rotWithShape="0" dir="5400000" dist="15000">
              <a:srgbClr val="000000">
                <a:alpha val="37650"/>
              </a:srgbClr>
            </a:outerShdw>
          </a:effectLst>
        </p:spPr>
      </p:cxnSp>
      <p:cxnSp>
        <p:nvCxnSpPr>
          <p:cNvPr id="171" name="Google Shape;171;p23"/>
          <p:cNvCxnSpPr/>
          <p:nvPr/>
        </p:nvCxnSpPr>
        <p:spPr>
          <a:xfrm rot="10800000">
            <a:off x="2165700" y="2052365"/>
            <a:ext cx="12633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med" w="med" type="triangle"/>
          </a:ln>
          <a:effectLst>
            <a:outerShdw blurRad="28575" rotWithShape="0" dir="5400000" dist="15000">
              <a:srgbClr val="000000">
                <a:alpha val="37650"/>
              </a:srgbClr>
            </a:outerShdw>
          </a:effectLst>
        </p:spPr>
      </p:cxnSp>
      <p:cxnSp>
        <p:nvCxnSpPr>
          <p:cNvPr id="172" name="Google Shape;172;p23"/>
          <p:cNvCxnSpPr/>
          <p:nvPr/>
        </p:nvCxnSpPr>
        <p:spPr>
          <a:xfrm rot="10800000">
            <a:off x="1723504" y="2207481"/>
            <a:ext cx="0" cy="1005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dash"/>
            <a:round/>
            <a:headEnd len="sm" w="sm" type="none"/>
            <a:tailEnd len="med" w="med" type="triangle"/>
          </a:ln>
          <a:effectLst>
            <a:outerShdw blurRad="28575" rotWithShape="0" dir="5400000" dist="15000">
              <a:srgbClr val="000000">
                <a:alpha val="37650"/>
              </a:srgbClr>
            </a:outerShdw>
          </a:effectLst>
        </p:spPr>
      </p:cxnSp>
      <p:sp>
        <p:nvSpPr>
          <p:cNvPr id="173" name="Google Shape;173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4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7857"/>
              <a:buFont typeface="Calibri"/>
              <a:buNone/>
            </a:pPr>
            <a:r>
              <a:rPr lang="en"/>
              <a:t>Extendiendo el framework</a:t>
            </a:r>
            <a:endParaRPr/>
          </a:p>
        </p:txBody>
      </p:sp>
      <p:sp>
        <p:nvSpPr>
          <p:cNvPr id="179" name="Google Shape;179;p24"/>
          <p:cNvSpPr txBox="1"/>
          <p:nvPr>
            <p:ph idx="1" type="body"/>
          </p:nvPr>
        </p:nvSpPr>
        <p:spPr>
          <a:xfrm>
            <a:off x="233775" y="864356"/>
            <a:ext cx="6390600" cy="2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 fontScale="92500" lnSpcReduction="20000"/>
          </a:bodyPr>
          <a:lstStyle/>
          <a:p>
            <a:pPr indent="-24257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33333"/>
              <a:buChar char="●"/>
            </a:pPr>
            <a:r>
              <a:rPr lang="en"/>
              <a:t>Se pueden agregar nuevas clases de Formater, Handler y Filter</a:t>
            </a:r>
            <a:endParaRPr/>
          </a:p>
          <a:p>
            <a:pPr indent="-229870" lvl="1" marL="584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71429"/>
              <a:buChar char="○"/>
            </a:pPr>
            <a:r>
              <a:rPr lang="en"/>
              <a:t>Nuevo Formatter: Subclasifico la clase abstracta Formatter o alguna de sus subclases y se impleta el protocolo correspondiente</a:t>
            </a:r>
            <a:endParaRPr/>
          </a:p>
          <a:p>
            <a:pPr indent="-229870" lvl="1" marL="584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71429"/>
              <a:buChar char="○"/>
            </a:pPr>
            <a:r>
              <a:rPr lang="en"/>
              <a:t>Nuevo Handler: Subclasifico la clase abstracta Handler o alguna de sus subclases </a:t>
            </a:r>
            <a:r>
              <a:rPr lang="en"/>
              <a:t>y se impleta el protocolo correspondiente</a:t>
            </a:r>
            <a:endParaRPr/>
          </a:p>
          <a:p>
            <a:pPr indent="-229870" lvl="1" marL="584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71429"/>
              <a:buChar char="○"/>
            </a:pPr>
            <a:r>
              <a:rPr lang="en"/>
              <a:t>Nuevo Filter: Implemento la interfaz Filter </a:t>
            </a:r>
            <a:endParaRPr/>
          </a:p>
          <a:p>
            <a:pPr indent="-24257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33333"/>
              <a:buChar char="●"/>
            </a:pPr>
            <a:r>
              <a:rPr lang="en" u="sng"/>
              <a:t>Esto no es hacking, sino algo previsto por los diseñadores</a:t>
            </a:r>
            <a:endParaRPr u="sng"/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33333"/>
              <a:buNone/>
            </a:pPr>
            <a:r>
              <a:t/>
            </a:r>
            <a:endParaRPr/>
          </a:p>
          <a:p>
            <a:pPr indent="-1016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ct val="133333"/>
              <a:buNone/>
            </a:pPr>
            <a:r>
              <a:t/>
            </a:r>
            <a:endParaRPr/>
          </a:p>
        </p:txBody>
      </p:sp>
      <p:grpSp>
        <p:nvGrpSpPr>
          <p:cNvPr id="180" name="Google Shape;180;p24"/>
          <p:cNvGrpSpPr/>
          <p:nvPr/>
        </p:nvGrpSpPr>
        <p:grpSpPr>
          <a:xfrm>
            <a:off x="3279073" y="3552534"/>
            <a:ext cx="5072274" cy="1412366"/>
            <a:chOff x="4685825" y="4092725"/>
            <a:chExt cx="3132000" cy="872100"/>
          </a:xfrm>
        </p:grpSpPr>
        <p:sp>
          <p:nvSpPr>
            <p:cNvPr id="181" name="Google Shape;181;p24"/>
            <p:cNvSpPr/>
            <p:nvPr/>
          </p:nvSpPr>
          <p:spPr>
            <a:xfrm>
              <a:off x="5176925" y="4168925"/>
              <a:ext cx="583500" cy="322500"/>
            </a:xfrm>
            <a:prstGeom prst="roundRect">
              <a:avLst>
                <a:gd fmla="val 35140" name="adj"/>
              </a:avLst>
            </a:prstGeom>
            <a:solidFill>
              <a:srgbClr val="EEEEEE"/>
            </a:solidFill>
            <a:ln cap="flat" cmpd="sng" w="15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8050" lIns="148050" spcFirstLastPara="1" rIns="148050" wrap="square" tIns="148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67"/>
                <a:t>Fw</a:t>
              </a:r>
              <a:endParaRPr sz="2267"/>
            </a:p>
          </p:txBody>
        </p:sp>
        <p:sp>
          <p:nvSpPr>
            <p:cNvPr id="182" name="Google Shape;182;p24"/>
            <p:cNvSpPr/>
            <p:nvPr/>
          </p:nvSpPr>
          <p:spPr>
            <a:xfrm>
              <a:off x="7234325" y="4168925"/>
              <a:ext cx="583500" cy="322500"/>
            </a:xfrm>
            <a:prstGeom prst="roundRect">
              <a:avLst>
                <a:gd fmla="val 35140" name="adj"/>
              </a:avLst>
            </a:prstGeom>
            <a:solidFill>
              <a:srgbClr val="EEEEEE"/>
            </a:solidFill>
            <a:ln cap="flat" cmpd="sng" w="154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8050" lIns="148050" spcFirstLastPara="1" rIns="148050" wrap="square" tIns="1480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67"/>
                <a:t>App</a:t>
              </a:r>
              <a:endParaRPr sz="2267"/>
            </a:p>
          </p:txBody>
        </p:sp>
        <p:cxnSp>
          <p:nvCxnSpPr>
            <p:cNvPr id="183" name="Google Shape;183;p24"/>
            <p:cNvCxnSpPr>
              <a:stCxn id="181" idx="3"/>
              <a:endCxn id="182" idx="1"/>
            </p:cNvCxnSpPr>
            <p:nvPr/>
          </p:nvCxnSpPr>
          <p:spPr>
            <a:xfrm>
              <a:off x="5760425" y="4330175"/>
              <a:ext cx="1473900" cy="300"/>
            </a:xfrm>
            <a:prstGeom prst="curvedConnector3">
              <a:avLst>
                <a:gd fmla="val 50000" name="adj1"/>
              </a:avLst>
            </a:prstGeom>
            <a:noFill/>
            <a:ln cap="flat" cmpd="sng" w="154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84" name="Google Shape;184;p24"/>
            <p:cNvCxnSpPr>
              <a:stCxn id="181" idx="0"/>
              <a:endCxn id="181" idx="2"/>
            </p:cNvCxnSpPr>
            <p:nvPr/>
          </p:nvCxnSpPr>
          <p:spPr>
            <a:xfrm flipH="1" rot="-5400000">
              <a:off x="5307575" y="4330025"/>
              <a:ext cx="322500" cy="300"/>
            </a:xfrm>
            <a:prstGeom prst="curvedConnector5">
              <a:avLst>
                <a:gd fmla="val -73837" name="adj1"/>
                <a:gd fmla="val -137845814" name="adj2"/>
                <a:gd fmla="val 173837" name="adj3"/>
              </a:avLst>
            </a:prstGeom>
            <a:noFill/>
            <a:ln cap="flat" cmpd="sng" w="154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5" name="Google Shape;185;p24"/>
            <p:cNvSpPr txBox="1"/>
            <p:nvPr/>
          </p:nvSpPr>
          <p:spPr>
            <a:xfrm>
              <a:off x="6209825" y="4092725"/>
              <a:ext cx="1046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8050" lIns="148050" spcFirstLastPara="1" rIns="148050" wrap="square" tIns="148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19">
                  <a:solidFill>
                    <a:srgbClr val="595959"/>
                  </a:solidFill>
                </a:rPr>
                <a:t>Instantiación</a:t>
              </a:r>
              <a:endParaRPr sz="1619">
                <a:solidFill>
                  <a:srgbClr val="595959"/>
                </a:solidFill>
              </a:endParaRPr>
            </a:p>
          </p:txBody>
        </p:sp>
        <p:sp>
          <p:nvSpPr>
            <p:cNvPr id="186" name="Google Shape;186;p24"/>
            <p:cNvSpPr txBox="1"/>
            <p:nvPr/>
          </p:nvSpPr>
          <p:spPr>
            <a:xfrm>
              <a:off x="4685825" y="4626125"/>
              <a:ext cx="1046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48050" lIns="148050" spcFirstLastPara="1" rIns="148050" wrap="square" tIns="14805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19">
                  <a:solidFill>
                    <a:srgbClr val="595959"/>
                  </a:solidFill>
                </a:rPr>
                <a:t>Extensión</a:t>
              </a:r>
              <a:endParaRPr sz="1619">
                <a:solidFill>
                  <a:srgbClr val="595959"/>
                </a:solidFill>
              </a:endParaRPr>
            </a:p>
          </p:txBody>
        </p:sp>
      </p:grpSp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type="title"/>
          </p:nvPr>
        </p:nvSpPr>
        <p:spPr>
          <a:xfrm>
            <a:off x="254575" y="12571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7857"/>
              <a:buFont typeface="Calibri"/>
              <a:buNone/>
            </a:pPr>
            <a:r>
              <a:rPr lang="en"/>
              <a:t>Nuevos Formatters</a:t>
            </a:r>
            <a:endParaRPr/>
          </a:p>
        </p:txBody>
      </p:sp>
      <p:pic>
        <p:nvPicPr>
          <p:cNvPr id="193" name="Google Shape;19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731" y="715609"/>
            <a:ext cx="6285123" cy="20026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4" name="Google Shape;19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181" y="2897223"/>
            <a:ext cx="5429110" cy="2181339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357188"/>
            <a:ext cx="6248400" cy="442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344" y="3123282"/>
            <a:ext cx="1712071" cy="1363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s outline" id="202" name="Google Shape;20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695" y="644488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s outline" id="203" name="Google Shape;203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1939" y="644488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s outline" id="204" name="Google Shape;20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1939" y="2916761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6"/>
          <p:cNvSpPr txBox="1"/>
          <p:nvPr/>
        </p:nvSpPr>
        <p:spPr>
          <a:xfrm>
            <a:off x="264076" y="1326150"/>
            <a:ext cx="13239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Desarrolladores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 framework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7688947" y="1230531"/>
            <a:ext cx="12234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Desarrolladores </a:t>
            </a:r>
            <a:b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aplicaciones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6"/>
          <p:cNvSpPr txBox="1"/>
          <p:nvPr/>
        </p:nvSpPr>
        <p:spPr>
          <a:xfrm>
            <a:off x="7757515" y="3562835"/>
            <a:ext cx="1100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Mejoradores </a:t>
            </a:r>
            <a:b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 framework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357188"/>
            <a:ext cx="6248400" cy="442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344" y="3123282"/>
            <a:ext cx="1712071" cy="1363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s outline" id="215" name="Google Shape;215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695" y="644488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s outline" id="216" name="Google Shape;216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1939" y="644488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s outline" id="217" name="Google Shape;21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1939" y="2916761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7"/>
          <p:cNvSpPr txBox="1"/>
          <p:nvPr/>
        </p:nvSpPr>
        <p:spPr>
          <a:xfrm>
            <a:off x="264064" y="1326156"/>
            <a:ext cx="1183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Desarrolladores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 framework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7"/>
          <p:cNvSpPr txBox="1"/>
          <p:nvPr/>
        </p:nvSpPr>
        <p:spPr>
          <a:xfrm>
            <a:off x="7688947" y="1230531"/>
            <a:ext cx="12234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Desarrolladores </a:t>
            </a:r>
            <a:b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aplicaciones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7"/>
          <p:cNvSpPr txBox="1"/>
          <p:nvPr/>
        </p:nvSpPr>
        <p:spPr>
          <a:xfrm>
            <a:off x="7757515" y="3562835"/>
            <a:ext cx="1100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Mejoradores </a:t>
            </a:r>
            <a:b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 framework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682354" y="2070707"/>
            <a:ext cx="7779300" cy="80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miter lim="400000"/>
            <a:headEnd len="sm" w="sm" type="none"/>
            <a:tailEnd len="sm" w="sm" type="none"/>
          </a:ln>
          <a:effectLst>
            <a:outerShdw blurRad="38100" rotWithShape="0" algn="bl" dir="18900000" dist="28575">
              <a:srgbClr val="000000">
                <a:alpha val="40000"/>
              </a:srgbClr>
            </a:outerShdw>
          </a:effectLst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¿Quien envía el mensaje format() a las instancias de nuestras 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clases JSONFormatter y ShoutingSimpleFormatter?</a:t>
            </a:r>
            <a:endParaRPr sz="1100"/>
          </a:p>
        </p:txBody>
      </p:sp>
      <p:sp>
        <p:nvSpPr>
          <p:cNvPr id="222" name="Google Shape;22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7898" y="357188"/>
            <a:ext cx="6248400" cy="442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04344" y="3123282"/>
            <a:ext cx="1712071" cy="13638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s outline" id="229" name="Google Shape;22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695" y="644488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s outline" id="230" name="Google Shape;23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1939" y="644488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s outline" id="231" name="Google Shape;231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81939" y="2916761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8"/>
          <p:cNvSpPr txBox="1"/>
          <p:nvPr/>
        </p:nvSpPr>
        <p:spPr>
          <a:xfrm>
            <a:off x="264064" y="1326156"/>
            <a:ext cx="11838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Desarrolladores</a:t>
            </a:r>
            <a:endParaRPr sz="1100"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 framework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8"/>
          <p:cNvSpPr txBox="1"/>
          <p:nvPr/>
        </p:nvSpPr>
        <p:spPr>
          <a:xfrm>
            <a:off x="7688947" y="1230531"/>
            <a:ext cx="12234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Desarrolladores </a:t>
            </a:r>
            <a:b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 aplicaciones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8"/>
          <p:cNvSpPr txBox="1"/>
          <p:nvPr/>
        </p:nvSpPr>
        <p:spPr>
          <a:xfrm>
            <a:off x="7757515" y="3562835"/>
            <a:ext cx="11007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Mejoradores </a:t>
            </a:r>
            <a:b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 framework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8"/>
          <p:cNvSpPr/>
          <p:nvPr/>
        </p:nvSpPr>
        <p:spPr>
          <a:xfrm rot="-1691359">
            <a:off x="3090261" y="1178803"/>
            <a:ext cx="2319287" cy="779543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mylogger.log( ..)</a:t>
            </a:r>
            <a:endParaRPr sz="1100"/>
          </a:p>
        </p:txBody>
      </p:sp>
      <p:sp>
        <p:nvSpPr>
          <p:cNvPr id="236" name="Google Shape;236;p28"/>
          <p:cNvSpPr/>
          <p:nvPr/>
        </p:nvSpPr>
        <p:spPr>
          <a:xfrm>
            <a:off x="3159950" y="3025694"/>
            <a:ext cx="2880600" cy="779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FF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rPr b="0" i="0" lang="en" sz="2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formatter.format(…)</a:t>
            </a:r>
            <a:endParaRPr sz="1100"/>
          </a:p>
        </p:txBody>
      </p:sp>
      <p:sp>
        <p:nvSpPr>
          <p:cNvPr id="237" name="Google Shape;237;p28"/>
          <p:cNvSpPr txBox="1"/>
          <p:nvPr/>
        </p:nvSpPr>
        <p:spPr>
          <a:xfrm>
            <a:off x="2688312" y="4466342"/>
            <a:ext cx="3767400" cy="48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None/>
            </a:pPr>
            <a:r>
              <a:rPr b="0" i="0" lang="en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¡INVERSION DE CONTROL!</a:t>
            </a:r>
            <a:endParaRPr sz="1100"/>
          </a:p>
        </p:txBody>
      </p:sp>
      <p:sp>
        <p:nvSpPr>
          <p:cNvPr id="238" name="Google Shape;23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9"/>
          <p:cNvSpPr txBox="1"/>
          <p:nvPr>
            <p:ph type="title"/>
          </p:nvPr>
        </p:nvSpPr>
        <p:spPr>
          <a:xfrm>
            <a:off x="311700" y="9827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Preguntas de </a:t>
            </a:r>
            <a:r>
              <a:rPr lang="en"/>
              <a:t>autoevaluación</a:t>
            </a:r>
            <a:endParaRPr/>
          </a:p>
        </p:txBody>
      </p:sp>
      <p:sp>
        <p:nvSpPr>
          <p:cNvPr id="244" name="Google Shape;244;p29"/>
          <p:cNvSpPr txBox="1"/>
          <p:nvPr>
            <p:ph idx="1" type="body"/>
          </p:nvPr>
        </p:nvSpPr>
        <p:spPr>
          <a:xfrm>
            <a:off x="311700" y="670975"/>
            <a:ext cx="8520600" cy="38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Considerando lo visto de java.util.logging, qu</a:t>
            </a:r>
            <a:r>
              <a:rPr lang="en"/>
              <a:t>é aspecto de funcionalidad de un programa permite implementar?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Considerando la manera de usar java.util.logging </a:t>
            </a:r>
            <a:r>
              <a:rPr lang="en" u="sng"/>
              <a:t>justifique</a:t>
            </a:r>
            <a:r>
              <a:rPr lang="en"/>
              <a:t> si: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Es una librer</a:t>
            </a:r>
            <a:r>
              <a:rPr lang="en"/>
              <a:t>ía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Es un framework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Considerando la manera que se “instancia” java.util.logging, </a:t>
            </a:r>
            <a:r>
              <a:rPr lang="en" u="sng"/>
              <a:t>justifique</a:t>
            </a:r>
            <a:r>
              <a:rPr lang="en"/>
              <a:t> si: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Es un framework de caja blanca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Es un framework de caja negra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Estudie la documentaci</a:t>
            </a:r>
            <a:r>
              <a:rPr lang="en"/>
              <a:t>ón y establezca si el </a:t>
            </a:r>
            <a:r>
              <a:rPr lang="en"/>
              <a:t>método</a:t>
            </a:r>
            <a:r>
              <a:rPr lang="en"/>
              <a:t> Logger.getLogger corresponde a un Patrón de Diseño visto en la materia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Cuales son las posibles extensiones de java.util.logging y cuales son los hotspots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Considerando la jerarquía de Formatter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Puede identificar la aplicación de Template Method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/>
              <a:t>Hay algún (otro) </a:t>
            </a:r>
            <a:r>
              <a:rPr lang="en"/>
              <a:t>patrón</a:t>
            </a:r>
            <a:r>
              <a:rPr lang="en"/>
              <a:t> de diseño que podría haber sido aplicado?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/>
              <a:t>Considere el diagrama de la </a:t>
            </a:r>
            <a:r>
              <a:rPr lang="en"/>
              <a:t>página/diapositiva</a:t>
            </a:r>
            <a:r>
              <a:rPr lang="en"/>
              <a:t> #11. Cuál </a:t>
            </a:r>
            <a:r>
              <a:rPr lang="en"/>
              <a:t>sería</a:t>
            </a:r>
            <a:r>
              <a:rPr lang="en"/>
              <a:t> el efecto de evaluar la siguiente </a:t>
            </a:r>
            <a:r>
              <a:rPr lang="en"/>
              <a:t>expresión</a:t>
            </a:r>
            <a:r>
              <a:rPr lang="en"/>
              <a:t>:</a:t>
            </a:r>
            <a:endParaRPr/>
          </a:p>
          <a:p>
            <a:pPr indent="0" lvl="0" marL="4572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Logger.getLogger("ecommerce.customers).log(Level.SEVERE, "It is broken")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5" name="Google Shape;24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0"/>
          <p:cNvSpPr txBox="1"/>
          <p:nvPr>
            <p:ph type="title"/>
          </p:nvPr>
        </p:nvSpPr>
        <p:spPr>
          <a:xfrm>
            <a:off x="239450" y="56157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Material adicional java.util.logging</a:t>
            </a:r>
            <a:endParaRPr/>
          </a:p>
        </p:txBody>
      </p:sp>
      <p:sp>
        <p:nvSpPr>
          <p:cNvPr id="251" name="Google Shape;25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30"/>
          <p:cNvSpPr txBox="1"/>
          <p:nvPr/>
        </p:nvSpPr>
        <p:spPr>
          <a:xfrm>
            <a:off x="356325" y="2106975"/>
            <a:ext cx="8403600" cy="9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3"/>
              </a:rPr>
              <a:t>https://docs.oracle.com/en/java/javase/11/core/java-logging-overview.html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uFill>
                  <a:noFill/>
                </a:uFill>
                <a:hlinkClick r:id="rId4"/>
              </a:rPr>
              <a:t>https://docs.oracle.com/en/java/javase/11/docs/api/java.logging/java/util/logging/package-summary.html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7857"/>
              <a:buFont typeface="Calibri"/>
              <a:buNone/>
            </a:pPr>
            <a:r>
              <a:rPr lang="en"/>
              <a:t>Handler</a:t>
            </a:r>
            <a:endParaRPr/>
          </a:p>
        </p:txBody>
      </p:sp>
      <p:sp>
        <p:nvSpPr>
          <p:cNvPr id="258" name="Google Shape;258;p31"/>
          <p:cNvSpPr txBox="1"/>
          <p:nvPr>
            <p:ph idx="1" type="body"/>
          </p:nvPr>
        </p:nvSpPr>
        <p:spPr>
          <a:xfrm>
            <a:off x="233775" y="864356"/>
            <a:ext cx="6390600" cy="25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Recibe los mensajes del Logger y determina como “exportarlos”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 Instancias de MemoryHandler, ConsoleHandler, FileHandler, o SocketHandler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Puede filtrar por nivel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Tiene un Formatter</a:t>
            </a:r>
            <a:endParaRPr/>
          </a:p>
        </p:txBody>
      </p:sp>
      <p:pic>
        <p:nvPicPr>
          <p:cNvPr id="259" name="Google Shape;25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8449" y="2900190"/>
            <a:ext cx="5248272" cy="186581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1"/>
          <p:cNvSpPr/>
          <p:nvPr/>
        </p:nvSpPr>
        <p:spPr>
          <a:xfrm>
            <a:off x="4082654" y="2910906"/>
            <a:ext cx="4050600" cy="126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7857"/>
              <a:buFont typeface="Calibri"/>
              <a:buNone/>
            </a:pPr>
            <a:r>
              <a:rPr lang="en"/>
              <a:t>Level</a:t>
            </a:r>
            <a:endParaRPr/>
          </a:p>
        </p:txBody>
      </p:sp>
      <p:sp>
        <p:nvSpPr>
          <p:cNvPr id="267" name="Google Shape;267;p32"/>
          <p:cNvSpPr txBox="1"/>
          <p:nvPr>
            <p:ph idx="1" type="body"/>
          </p:nvPr>
        </p:nvSpPr>
        <p:spPr>
          <a:xfrm>
            <a:off x="457200" y="1740876"/>
            <a:ext cx="6493200" cy="34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-2667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Representa la importancia de un mensaje</a:t>
            </a:r>
            <a:endParaRPr/>
          </a:p>
          <a:p>
            <a:pPr indent="-2667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Cada vez que pido que se loggee algo, debo indicar un nivel</a:t>
            </a:r>
            <a:endParaRPr/>
          </a:p>
          <a:p>
            <a:pPr indent="-2667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Los Loggers y Handler comparan el nivel de un cada mensaje con el suyo para decidir si les interesa o no</a:t>
            </a:r>
            <a:endParaRPr/>
          </a:p>
          <a:p>
            <a:pPr indent="-2667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Si te interesa un nivel, también te interesan los que son más importantes que ese</a:t>
            </a:r>
            <a:endParaRPr/>
          </a:p>
          <a:p>
            <a:pPr indent="-2667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Hay niveles predefinidos, en variables estáticas de la clase Level (p.e., Level.OFF)</a:t>
            </a:r>
            <a:endParaRPr/>
          </a:p>
          <a:p>
            <a:pPr indent="-1143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268" name="Google Shape;26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2567" y="170691"/>
            <a:ext cx="2939955" cy="1291798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2"/>
          <p:cNvSpPr/>
          <p:nvPr/>
        </p:nvSpPr>
        <p:spPr>
          <a:xfrm>
            <a:off x="7321793" y="2079806"/>
            <a:ext cx="815400" cy="276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SEVERE</a:t>
            </a:r>
            <a:endParaRPr sz="1100"/>
          </a:p>
        </p:txBody>
      </p:sp>
      <p:sp>
        <p:nvSpPr>
          <p:cNvPr id="270" name="Google Shape;270;p32"/>
          <p:cNvSpPr/>
          <p:nvPr/>
        </p:nvSpPr>
        <p:spPr>
          <a:xfrm>
            <a:off x="7321794" y="2383671"/>
            <a:ext cx="815400" cy="276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WARNING</a:t>
            </a:r>
            <a:endParaRPr sz="1100"/>
          </a:p>
        </p:txBody>
      </p:sp>
      <p:sp>
        <p:nvSpPr>
          <p:cNvPr id="271" name="Google Shape;271;p32"/>
          <p:cNvSpPr/>
          <p:nvPr/>
        </p:nvSpPr>
        <p:spPr>
          <a:xfrm>
            <a:off x="7321793" y="2687536"/>
            <a:ext cx="815400" cy="276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INFO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2"/>
          <p:cNvSpPr/>
          <p:nvPr/>
        </p:nvSpPr>
        <p:spPr>
          <a:xfrm>
            <a:off x="7321793" y="2991401"/>
            <a:ext cx="815400" cy="276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2D05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CONFIG</a:t>
            </a:r>
            <a:endParaRPr sz="1100"/>
          </a:p>
        </p:txBody>
      </p:sp>
      <p:sp>
        <p:nvSpPr>
          <p:cNvPr id="273" name="Google Shape;273;p32"/>
          <p:cNvSpPr/>
          <p:nvPr/>
        </p:nvSpPr>
        <p:spPr>
          <a:xfrm>
            <a:off x="7321793" y="3334829"/>
            <a:ext cx="815400" cy="276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B0F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FINE</a:t>
            </a:r>
            <a:endParaRPr sz="1100"/>
          </a:p>
        </p:txBody>
      </p:sp>
      <p:sp>
        <p:nvSpPr>
          <p:cNvPr id="274" name="Google Shape;274;p32"/>
          <p:cNvSpPr/>
          <p:nvPr/>
        </p:nvSpPr>
        <p:spPr>
          <a:xfrm>
            <a:off x="7321793" y="3638694"/>
            <a:ext cx="815400" cy="276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FINER</a:t>
            </a:r>
            <a:endParaRPr sz="1100"/>
          </a:p>
        </p:txBody>
      </p:sp>
      <p:sp>
        <p:nvSpPr>
          <p:cNvPr id="275" name="Google Shape;275;p32"/>
          <p:cNvSpPr/>
          <p:nvPr/>
        </p:nvSpPr>
        <p:spPr>
          <a:xfrm>
            <a:off x="7321793" y="3942560"/>
            <a:ext cx="815400" cy="276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030A0"/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FINEST</a:t>
            </a:r>
            <a:endParaRPr sz="1100"/>
          </a:p>
        </p:txBody>
      </p:sp>
      <p:sp>
        <p:nvSpPr>
          <p:cNvPr id="276" name="Google Shape;276;p32"/>
          <p:cNvSpPr/>
          <p:nvPr/>
        </p:nvSpPr>
        <p:spPr>
          <a:xfrm>
            <a:off x="7321795" y="4294294"/>
            <a:ext cx="815400" cy="2769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979797"/>
            </a:solidFill>
            <a:prstDash val="solid"/>
            <a:round/>
            <a:headEnd len="sm" w="sm" type="none"/>
            <a:tailEnd len="sm" w="sm" type="none"/>
          </a:ln>
          <a:effectLst>
            <a:outerShdw blurRad="28575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</a:t>
            </a:r>
            <a:endParaRPr sz="1100"/>
          </a:p>
        </p:txBody>
      </p:sp>
      <p:cxnSp>
        <p:nvCxnSpPr>
          <p:cNvPr id="277" name="Google Shape;277;p32"/>
          <p:cNvCxnSpPr/>
          <p:nvPr/>
        </p:nvCxnSpPr>
        <p:spPr>
          <a:xfrm flipH="1" rot="10800000">
            <a:off x="8710621" y="2079958"/>
            <a:ext cx="33300" cy="2139600"/>
          </a:xfrm>
          <a:prstGeom prst="straightConnector1">
            <a:avLst/>
          </a:prstGeom>
          <a:noFill/>
          <a:ln cap="flat" cmpd="sng" w="28575">
            <a:solidFill>
              <a:srgbClr val="BD4B4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8" name="Google Shape;278;p32"/>
          <p:cNvSpPr txBox="1"/>
          <p:nvPr/>
        </p:nvSpPr>
        <p:spPr>
          <a:xfrm rot="-5400000">
            <a:off x="7978825" y="2949925"/>
            <a:ext cx="11943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importancia</a:t>
            </a:r>
            <a:endParaRPr sz="1100"/>
          </a:p>
        </p:txBody>
      </p:sp>
      <p:sp>
        <p:nvSpPr>
          <p:cNvPr id="279" name="Google Shape;279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/>
          <p:nvPr>
            <p:ph type="title"/>
          </p:nvPr>
        </p:nvSpPr>
        <p:spPr>
          <a:xfrm>
            <a:off x="233775" y="333769"/>
            <a:ext cx="6390600" cy="42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17857"/>
              <a:buFont typeface="Calibri"/>
              <a:buNone/>
            </a:pPr>
            <a:r>
              <a:rPr lang="en"/>
              <a:t>Formatter</a:t>
            </a:r>
            <a:endParaRPr/>
          </a:p>
        </p:txBody>
      </p:sp>
      <p:sp>
        <p:nvSpPr>
          <p:cNvPr id="285" name="Google Shape;285;p33"/>
          <p:cNvSpPr txBox="1"/>
          <p:nvPr>
            <p:ph idx="1" type="body"/>
          </p:nvPr>
        </p:nvSpPr>
        <p:spPr>
          <a:xfrm>
            <a:off x="457200" y="1008275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-254000" lvl="0" marL="254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El Formatter recibe un mesaje de log (un objeto) y lo transforma a texto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Son instancias de: SimpleFormatter o XMLFormatter</a:t>
            </a:r>
            <a:endParaRPr/>
          </a:p>
          <a:p>
            <a:pPr indent="-254000" lvl="0" marL="2540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/>
              <a:t>Cada handler tiene su formatter</a:t>
            </a:r>
            <a:endParaRPr/>
          </a:p>
          <a:p>
            <a:pPr indent="-241300" lvl="1" marL="584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/>
              <a:t>Los FileHandler tienen un XMLFormatter por defecto</a:t>
            </a:r>
            <a:endParaRPr/>
          </a:p>
          <a:p>
            <a:pPr indent="-241300" lvl="1" marL="5842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○"/>
            </a:pPr>
            <a:r>
              <a:rPr lang="en"/>
              <a:t>Los ConsoleHandler tienen un SimpleFormatter por defecto</a:t>
            </a:r>
            <a:endParaRPr/>
          </a:p>
        </p:txBody>
      </p:sp>
      <p:pic>
        <p:nvPicPr>
          <p:cNvPr id="286" name="Google Shape;28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3158" y="3525625"/>
            <a:ext cx="5837684" cy="1425999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3"/>
          <p:cNvSpPr/>
          <p:nvPr/>
        </p:nvSpPr>
        <p:spPr>
          <a:xfrm>
            <a:off x="3118245" y="3597575"/>
            <a:ext cx="3021900" cy="126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